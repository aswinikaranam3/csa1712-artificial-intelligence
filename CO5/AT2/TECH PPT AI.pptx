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9" r:id="rId6"/>
    <p:sldId id="269" r:id="rId7"/>
    <p:sldId id="261" r:id="rId8"/>
    <p:sldId id="262" r:id="rId9"/>
    <p:sldId id="265" r:id="rId10"/>
    <p:sldId id="267" r:id="rId11"/>
    <p:sldId id="272" r:id="rId12"/>
    <p:sldId id="268" r:id="rId13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snapVertSplitter="1" vertBarState="minimized" horzBarState="maximized">
    <p:restoredLeft sz="34587" autoAdjust="0"/>
    <p:restoredTop sz="86378" autoAdjust="0"/>
  </p:normalViewPr>
  <p:slideViewPr>
    <p:cSldViewPr snapToGrid="0" snapToObjects="1" showGuides="1">
      <p:cViewPr>
        <p:scale>
          <a:sx n="108" d="100"/>
          <a:sy n="108" d="100"/>
        </p:scale>
        <p:origin x="-1426" y="-466"/>
      </p:cViewPr>
      <p:guideLst>
        <p:guide orient="horz" pos="1620"/>
        <p:guide pos="28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75" d="100"/>
          <a:sy n="75" d="100"/>
        </p:scale>
        <p:origin x="-3346" y="-72"/>
      </p:cViewPr>
      <p:guideLst>
        <p:guide orient="horz" pos="2880"/>
        <p:guide pos="1622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https://ae01.alicdn.com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https://www.build-electronic-circuits.com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https://www.slidemake.com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https://teachingwriting.stanford.edu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https://img.electronicdesign.com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2700" y="0"/>
            <a:ext cx="9173370" cy="5142161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19299" y="1403349"/>
            <a:ext cx="5111752" cy="1136650"/>
          </a:xfrm>
        </p:spPr>
        <p:txBody>
          <a:bodyPr anchor="b">
            <a:noAutofit/>
          </a:bodyPr>
          <a:lstStyle>
            <a:lvl1pPr algn="ctr">
              <a:defRPr sz="405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19299" y="2743198"/>
            <a:ext cx="5111752" cy="990602"/>
          </a:xfrm>
        </p:spPr>
        <p:txBody>
          <a:bodyPr anchor="t">
            <a:normAutofit/>
          </a:bodyPr>
          <a:lstStyle>
            <a:lvl1pPr marL="0" indent="0" algn="ctr">
              <a:buNone/>
              <a:defRPr sz="1575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87425" y="3778247"/>
            <a:ext cx="673100" cy="209550"/>
          </a:xfr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27DEEDD-21BB-47E7-9586-8D8CBE4E2385}" type="datetime6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19298" y="3778247"/>
            <a:ext cx="3910976" cy="209550"/>
          </a:xfr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17676" y="3778247"/>
            <a:ext cx="413375" cy="209550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0EB2F9E-C9E0-4EA3-A9E2-0DF5F691060E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299" y="2641598"/>
            <a:ext cx="511175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047127" y="181610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A7AE056-E91C-4F84-BAD6-96EF71B921FE}" type="datetime6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302" y="1314454"/>
            <a:ext cx="6119016" cy="1366886"/>
          </a:xfrm>
        </p:spPr>
        <p:txBody>
          <a:bodyPr anchor="b">
            <a:normAutofit/>
          </a:bodyPr>
          <a:lstStyle>
            <a:lvl1pPr algn="ctr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11300" y="2884539"/>
            <a:ext cx="6119018" cy="71591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3EF51AE-A3EC-4B5C-BBEE-5BE19F0C3DE2}" type="datetime6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>
            <a:off x="1509542" y="2782939"/>
            <a:ext cx="612253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047127" y="181610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73836" y="1920240"/>
            <a:ext cx="3538728" cy="248259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6008" y="1920240"/>
            <a:ext cx="3538728" cy="248259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551B092-A2AF-4010-BE70-8179EC9A76AC}" type="datetime6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0" y="1993900"/>
            <a:ext cx="3538728" cy="432197"/>
          </a:xfrm>
        </p:spPr>
        <p:txBody>
          <a:bodyPr anchor="b">
            <a:noAutofit/>
          </a:bodyPr>
          <a:lstStyle>
            <a:lvl1pPr marL="0" indent="0">
              <a:spcBef>
                <a:spcPts val="505"/>
              </a:spcBef>
              <a:spcAft>
                <a:spcPts val="450"/>
              </a:spcAft>
              <a:buNone/>
              <a:defRPr sz="21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71550" y="2432447"/>
            <a:ext cx="3538728" cy="1974454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35503" y="1993900"/>
            <a:ext cx="3538728" cy="432197"/>
          </a:xfrm>
        </p:spPr>
        <p:txBody>
          <a:bodyPr anchor="b">
            <a:noAutofit/>
          </a:bodyPr>
          <a:lstStyle>
            <a:lvl1pPr marL="0" indent="0">
              <a:spcBef>
                <a:spcPts val="505"/>
              </a:spcBef>
              <a:spcAft>
                <a:spcPts val="450"/>
              </a:spcAft>
              <a:buNone/>
              <a:defRPr sz="21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35503" y="2432447"/>
            <a:ext cx="3538728" cy="1974454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4D5A4D6-2F3E-4AB3-9AAD-F86FA4EC764A}" type="datetime6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>
            <a:off x="1047127" y="181610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1E66CEF-9313-493D-BEA7-2A0502D264C9}" type="datetime6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1047127" y="181610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1E317F6-10D5-42F4-B923-70E953D3BE3C}" type="datetime6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0359" y="1041401"/>
            <a:ext cx="2788841" cy="1028700"/>
          </a:xfrm>
        </p:spPr>
        <p:txBody>
          <a:bodyPr anchor="b">
            <a:normAutofit/>
          </a:bodyPr>
          <a:lstStyle>
            <a:lvl1pPr algn="ctr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1" y="736599"/>
            <a:ext cx="4102100" cy="3670301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70359" y="2273299"/>
            <a:ext cx="2788841" cy="1828803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306C9CC-318C-4E70-91C2-BF570ACECC17}" type="datetime6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>
            <a:off x="1047127" y="2184400"/>
            <a:ext cx="26358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49" y="1412874"/>
            <a:ext cx="4681362" cy="1028700"/>
          </a:xfrm>
        </p:spPr>
        <p:txBody>
          <a:bodyPr anchor="b">
            <a:normAutofit/>
          </a:bodyPr>
          <a:lstStyle>
            <a:lvl1pPr algn="ctr">
              <a:defRPr sz="21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71124" y="781050"/>
            <a:ext cx="2297510" cy="35814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71549" y="2441574"/>
            <a:ext cx="4681362" cy="1371600"/>
          </a:xfrm>
        </p:spPr>
        <p:txBody>
          <a:bodyPr anchor="t">
            <a:normAutofit/>
          </a:bodyPr>
          <a:lstStyle>
            <a:lvl1pPr marL="0" indent="0" algn="ctr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1C43A1E-86A2-4906-915B-B8948254E49F}" type="datetime6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3611561"/>
            <a:ext cx="7207250" cy="425054"/>
          </a:xfrm>
        </p:spPr>
        <p:txBody>
          <a:bodyPr anchor="b">
            <a:normAutofit/>
          </a:bodyPr>
          <a:lstStyle>
            <a:lvl1pPr algn="ctr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1070" y="781050"/>
            <a:ext cx="7579479" cy="2501902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71551" y="4036615"/>
            <a:ext cx="7207250" cy="370284"/>
          </a:xfrm>
        </p:spPr>
        <p:txBody>
          <a:bodyPr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3CBE081-D5C9-4A7B-9DD3-C94672E13DC0}" type="datetime6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7901" y="736599"/>
            <a:ext cx="7194549" cy="2216151"/>
          </a:xfrm>
        </p:spPr>
        <p:txBody>
          <a:bodyPr anchor="ctr">
            <a:normAutofit/>
          </a:bodyPr>
          <a:lstStyle>
            <a:lvl1pPr algn="ctr">
              <a:defRPr sz="2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7901" y="3257550"/>
            <a:ext cx="7194549" cy="11493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F49C7BF-8F33-40E1-812C-FF531E0DDC2C}" type="datetime6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1047127" y="3105149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60" y="736599"/>
            <a:ext cx="6972299" cy="1778001"/>
          </a:xfrm>
        </p:spPr>
        <p:txBody>
          <a:bodyPr anchor="ctr">
            <a:normAutofit/>
          </a:bodyPr>
          <a:lstStyle>
            <a:lvl1pPr algn="ctr">
              <a:defRPr sz="24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256109" y="2514600"/>
            <a:ext cx="6629402" cy="43815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500"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257550"/>
            <a:ext cx="7207250" cy="11493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0A88584-667A-4259-BFBF-A94EDBF130A5}" type="datetime6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6510" y="659971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  <a:endParaRPr lang="en-US" sz="6000" dirty="0">
              <a:solidFill>
                <a:schemeClr val="tx1"/>
              </a:solidFill>
              <a:effectLst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950200" y="2120903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  <a:endParaRPr lang="en-US" sz="6000" dirty="0">
              <a:solidFill>
                <a:schemeClr val="tx1"/>
              </a:solidFill>
              <a:effectLst/>
            </a:endParaRPr>
          </a:p>
        </p:txBody>
      </p:sp>
      <p:cxnSp>
        <p:nvCxnSpPr>
          <p:cNvPr id="19" name="Straight Connector 18"/>
          <p:cNvCxnSpPr/>
          <p:nvPr/>
        </p:nvCxnSpPr>
        <p:spPr>
          <a:xfrm>
            <a:off x="1047127" y="3105149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2" y="2481436"/>
            <a:ext cx="7207251" cy="1101600"/>
          </a:xfrm>
        </p:spPr>
        <p:txBody>
          <a:bodyPr anchor="b">
            <a:normAutofit/>
          </a:bodyPr>
          <a:lstStyle>
            <a:lvl1pPr algn="l">
              <a:defRPr sz="2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583036"/>
            <a:ext cx="7207251" cy="645300"/>
          </a:xfrm>
        </p:spPr>
        <p:txBody>
          <a:bodyPr anchor="t">
            <a:normAutofit/>
          </a:bodyPr>
          <a:lstStyle>
            <a:lvl1pPr marL="0" indent="0" algn="l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EE4C1AE-E74F-43DA-A6FD-DEBB92BB6EFF}" type="datetime6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60" y="736599"/>
            <a:ext cx="6972299" cy="1682751"/>
          </a:xfrm>
        </p:spPr>
        <p:txBody>
          <a:bodyPr anchor="ctr">
            <a:normAutofit/>
          </a:bodyPr>
          <a:lstStyle>
            <a:lvl1pPr algn="ctr">
              <a:defRPr sz="24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971551" y="2729484"/>
            <a:ext cx="7207251" cy="66522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397250"/>
            <a:ext cx="7207251" cy="100965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B959E1D-07A2-424D-9F84-A8007D176C56}" type="datetime6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6510" y="659971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  <a:endParaRPr lang="en-US" sz="6000" dirty="0">
              <a:solidFill>
                <a:schemeClr val="tx1"/>
              </a:solidFill>
              <a:effectLst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950200" y="1949446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  <a:endParaRPr lang="en-US" sz="6000" dirty="0">
              <a:solidFill>
                <a:schemeClr val="tx1"/>
              </a:solidFill>
              <a:effectLst/>
            </a:endParaRPr>
          </a:p>
        </p:txBody>
      </p:sp>
      <p:cxnSp>
        <p:nvCxnSpPr>
          <p:cNvPr id="26" name="Straight Connector 25"/>
          <p:cNvCxnSpPr/>
          <p:nvPr/>
        </p:nvCxnSpPr>
        <p:spPr>
          <a:xfrm>
            <a:off x="1047127" y="257175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736599"/>
            <a:ext cx="7207250" cy="1682751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971551" y="2722626"/>
            <a:ext cx="7207251" cy="63093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1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0" y="3352800"/>
            <a:ext cx="7207253" cy="105410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F99FFF-5ADB-47B1-9372-435859E07032}" type="datetime6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1047127" y="257175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DE19873-A706-45F1-9AAD-6004FE125DCC}" type="datetime6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1047127" y="181610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9518" y="736599"/>
            <a:ext cx="1418171" cy="36703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71549" y="736599"/>
            <a:ext cx="5574769" cy="36703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202F7F3-D792-441E-AF10-15B593449578}" type="datetime6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6647918" y="742950"/>
            <a:ext cx="0" cy="36576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A71B3-99A7-4C14-A482-14D54FB923BE}" type="datetime6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20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9" Type="http://schemas.openxmlformats.org/officeDocument/2006/relationships/image" Target="../media/image3.png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1802" y="0"/>
            <a:ext cx="9172472" cy="5142161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71552" y="736600"/>
            <a:ext cx="7200897" cy="9779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1917699"/>
            <a:ext cx="7200897" cy="248920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08126" y="4476750"/>
            <a:ext cx="1200150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38DF114-BE6D-437F-A234-070E189FE2EA}" type="datetime6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71551" y="4476750"/>
            <a:ext cx="5479425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65426" y="4476750"/>
            <a:ext cx="407023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hf sldNum="0" hdr="0" ftr="0"/>
  <p:txStyles>
    <p:titleStyle>
      <a:lvl1pPr algn="ctr" defTabSz="342900" rtl="0" eaLnBrk="1" latinLnBrk="0" hangingPunct="1">
        <a:spcBef>
          <a:spcPct val="0"/>
        </a:spcBef>
        <a:buNone/>
        <a:defRPr sz="33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14630" indent="-21463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 panose="020B0604020202020204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557530" indent="-21463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 panose="020B0604020202020204"/>
        <a:buChar char="•"/>
        <a:defRPr sz="15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900430" indent="-21463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 panose="020B0604020202020204"/>
        <a:buChar char="•"/>
        <a:defRPr sz="135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157605" indent="-128905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 panose="020B0604020202020204"/>
        <a:buChar char="•"/>
        <a:defRPr sz="12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1500505" indent="-128905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 panose="020B0604020202020204"/>
        <a:buChar char="•"/>
        <a:defRPr sz="105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 panose="020B0604020202020204"/>
        <a:buChar char="•"/>
        <a:defRPr sz="105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 panose="020B0604020202020204"/>
        <a:buChar char="•"/>
        <a:defRPr sz="105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 panose="020B0604020202020204"/>
        <a:buChar char="•"/>
        <a:defRPr sz="105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 panose="020B0604020202020204"/>
        <a:buChar char="•"/>
        <a:defRPr sz="105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8.png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8.png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8.png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3471" y="1803079"/>
            <a:ext cx="8229600" cy="9355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endParaRPr lang="en-US" sz="2400" b="1" u="sng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471" y="541460"/>
            <a:ext cx="8110024" cy="112541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688058" y="2832784"/>
            <a:ext cx="4586068" cy="119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K.ASWINI(192312397)</a:t>
            </a:r>
            <a:r>
              <a:rPr lang="en-IN" alt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-ECE</a:t>
            </a:r>
            <a:endParaRPr lang="en-US" sz="16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13472" y="3965119"/>
            <a:ext cx="2978946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Dr.R.Veeramani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59192" y="3060284"/>
            <a:ext cx="4874454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CODE:CSA1712-ARTIFICIAL                    INTELLIGENCE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/>
          <p:cNvGraphicFramePr/>
          <p:nvPr/>
        </p:nvGraphicFramePr>
        <p:xfrm>
          <a:off x="2190750" y="1816100"/>
          <a:ext cx="4762500" cy="963930"/>
        </p:xfrm>
        <a:graphic>
          <a:graphicData uri="http://schemas.openxmlformats.org/drawingml/2006/table">
            <a:tbl>
              <a:tblPr/>
              <a:tblGrid>
                <a:gridCol w="4762500"/>
              </a:tblGrid>
              <a:tr h="963930">
                <a:tc>
                  <a:txBody>
                    <a:bodyPr/>
                    <a:p>
                      <a:pPr algn="ctr"/>
                      <a:r>
                        <a:rPr lang="en-US" altLang="en-US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Goal-Based Agent for Healthcare Diagnosis</a:t>
                      </a:r>
                      <a:endParaRPr lang="en-US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altLang="en-US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Technical Assessment</a:t>
                      </a:r>
                      <a:r>
                        <a:rPr lang="en-US" altLang="en-US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177" marR="23177" marT="15557" marB="15557" anchor="ctr" anchorCtr="0">
                    <a:lnL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39174" y="381196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3600" b="1" u="sng" dirty="0" smtClean="0">
                <a:solidFill>
                  <a:srgbClr val="00206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Introduction</a:t>
            </a:r>
            <a:endParaRPr lang="en-US" sz="3600" u="sng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605155" y="1227455"/>
            <a:ext cx="7820025" cy="29692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(AI) is rapidly transforming the healthcare sector by enabling faster, more accurate, and data-driven medical decisions. 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important concept in AI is the Goal-Based Agent, which is designed to make decisions by considering specific goals and selecting actions that help achieve those goals efficiently.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healthcare diagnosis system, a goal-based agent focuses on identifying diseases, predicting health risks, and recommending appropriate treatments.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Unlike simple systems that react only to current inputs, this agent evaluates patient data such as symptoms, medical history, and test results, and then reasons about possible outcomes before making a decision.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8" name="Picture 4" descr="Saveetha Institute of Medical and Technical Sciences -SIMATS | Chennai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2625" y="488023"/>
            <a:ext cx="836149" cy="836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IMATS CGPA Calculato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226" y="456150"/>
            <a:ext cx="769568" cy="836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316523" y="313006"/>
            <a:ext cx="8229600" cy="10796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IN" sz="36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3600" b="1" u="sng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4" descr="Saveetha Institute of Medical and Technical Sciences -SIMATS | Chennai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2625" y="488023"/>
            <a:ext cx="836149" cy="836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SIMATS CGPA Calculato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226" y="473954"/>
            <a:ext cx="769568" cy="836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930498" y="4846320"/>
          <a:ext cx="5001650" cy="29718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609806"/>
                <a:gridCol w="1243271"/>
                <a:gridCol w="1316087"/>
                <a:gridCol w="1832486"/>
              </a:tblGrid>
              <a:tr h="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647700" y="1256030"/>
            <a:ext cx="7733665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healthcare systems generate vast amounts of patient data, including symptoms, medical history, diagnostic reports, and real-time sensor data. However, analyzing this complex and heterogeneous data efficiently to make accurate and timely diagnostic decisions remains a significant challenge.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diagnostic methods are often time-consuming, prone to human error, and may not effectively handle multiple conditions or uncertainties in patient data.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an intelligent system that can automatically interpret patient information, set clear diagnostic goals, and make optimal decisions regarding disease identification and treatment planning. A Goal-Based Agent addresses this problem by evaluating possible outcomes and selecting actions that best achieve the objective of accurate diagnosis and effective treatment.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10" y="639825"/>
            <a:ext cx="7200897" cy="532544"/>
          </a:xfrm>
        </p:spPr>
        <p:txBody>
          <a:bodyPr>
            <a:normAutofit fontScale="90000"/>
          </a:bodyPr>
          <a:lstStyle/>
          <a:p>
            <a:br>
              <a:rPr lang="en-IN" b="1" u="sng" dirty="0">
                <a:solidFill>
                  <a:schemeClr val="accent3">
                    <a:lumMod val="50000"/>
                  </a:schemeClr>
                </a:solidFill>
              </a:rPr>
            </a:br>
            <a:br>
              <a:rPr lang="en-IN" b="1" u="sng" dirty="0" smtClean="0">
                <a:solidFill>
                  <a:schemeClr val="accent3">
                    <a:lumMod val="50000"/>
                  </a:schemeClr>
                </a:solidFill>
              </a:rPr>
            </a:br>
            <a:r>
              <a:rPr lang="en-IN" b="1" u="sng" dirty="0" smtClean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br>
              <a:rPr lang="en-IN" b="1" u="sng" dirty="0">
                <a:solidFill>
                  <a:schemeClr val="accent3">
                    <a:lumMod val="50000"/>
                  </a:schemeClr>
                </a:solidFill>
              </a:rPr>
            </a:br>
            <a:br>
              <a:rPr lang="en-IN" b="1" u="sng" dirty="0" smtClean="0">
                <a:solidFill>
                  <a:schemeClr val="accent3">
                    <a:lumMod val="50000"/>
                  </a:schemeClr>
                </a:solidFill>
              </a:rPr>
            </a:br>
            <a:endParaRPr lang="en-IN" sz="1800" b="1" u="sng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A71B3-99A7-4C14-A482-14D54FB923BE}" type="datetime6">
              <a:rPr lang="en-US" smtClean="0"/>
            </a:fld>
            <a:endParaRPr lang="en-US"/>
          </a:p>
        </p:txBody>
      </p:sp>
      <p:pic>
        <p:nvPicPr>
          <p:cNvPr id="4" name="Picture 6" descr="SIMATS CGPA Calculator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226" y="456150"/>
            <a:ext cx="769568" cy="836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Saveetha Institute of Medical and Technical Sciences -SIMATS | Chenna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2625" y="488023"/>
            <a:ext cx="836149" cy="836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738554" y="1512277"/>
            <a:ext cx="7512145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 Goal-Based Agent that can assist in accurate and efficient healthcare diagnosis.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patient data such as symptoms, medical history, and test results for disease identification.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enable the agent to set and prioritize diagnostic goals, especially in critical medical conditions.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system that can evaluate multiple possible outcomes and select the most optimal diagnosis.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a decision-making mechanism that handles uncertainty in medical data.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Font typeface="Wingdings" panose="05000000000000000000" pitchFamily="2" charset="2"/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1035854" y="641545"/>
            <a:ext cx="7005711" cy="6382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IN" altLang="en-US" sz="2800" b="1" u="sng" dirty="0">
                <a:solidFill>
                  <a:srgbClr val="00206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EXISTING SYSTEM </a:t>
            </a:r>
            <a:endParaRPr lang="en-IN" altLang="en-US" sz="2800" u="sng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808892" y="1310102"/>
            <a:ext cx="7542162" cy="91493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healthcare diagnosis mainly depends on doctors’ experience and manual analysis of patient data.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Diagnosis is performed using clinical observations, lab reports, and medical history, which can be time-consuming.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systems are rule-based or semi-automated, lacking intelligent decision-making capabilities.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ability to handle large-scale data such as Electronic Health Records (EHR) and real-time sensor data.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in managing multiple diseases and complex conditions simultaneously.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chances of human error and misdiagnosis, especially under workload pressure.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4" descr="Saveetha Institute of Medical and Technical Sciences -SIMATS | Chennai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2625" y="488023"/>
            <a:ext cx="836149" cy="836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SIMATS CGPA Calculato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226" y="473954"/>
            <a:ext cx="769568" cy="836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AutoShape 4"/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1152732" y="598029"/>
            <a:ext cx="6679894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IN" altLang="en-US" sz="24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</a:t>
            </a:r>
            <a:endParaRPr lang="en-IN" altLang="en-US" sz="2400" b="1" u="sng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4" descr="Saveetha Institute of Medical and Technical Sciences -SIMATS | Chennai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2625" y="488023"/>
            <a:ext cx="836149" cy="836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6" descr="SIMATS CGPA Calculato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029" y="579463"/>
            <a:ext cx="769568" cy="836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859814" y="1525093"/>
            <a:ext cx="7723116" cy="3138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285750" lvl="0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uses a Goal-Based Intelligent Agent to automate and enhance the healthcare diagnosis process.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agent first collects patient data from multiple sources such as symptoms, medical history, lab reports, and real-time sensors.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 is then passed through a data preprocessing pipeline, where missing values are handled, data is standardized, and important features are extracted.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agent sets diagnostic goals, such as identifying possible diseases, prioritizing critical conditions, and ensuring accurate outcomes.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decision-making logic and AI models (Machine Learning/Deep Learning), the system evaluates multiple possible diagnoses and predicts the most probable condition.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309489" y="423839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IN" altLang="en-US" sz="36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altLang="en-US" sz="3600" u="sng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1366289" y="1350655"/>
            <a:ext cx="1681285" cy="369333"/>
          </a:xfrm>
          <a:prstGeom prst="rect">
            <a:avLst/>
          </a:prstGeom>
          <a:noFill/>
        </p:spPr>
        <p:txBody>
          <a:bodyPr wrap="square" rtlCol="0" anchor="t"/>
          <a:lstStyle/>
          <a:p>
            <a:endParaRPr lang="en-US" sz="16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4" descr="Saveetha Institute of Medical and Technical Sciences -SIMATS | Chennai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2625" y="488023"/>
            <a:ext cx="836149" cy="836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SIMATS CGPA Calculato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226" y="473954"/>
            <a:ext cx="769568" cy="836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 Box 1"/>
          <p:cNvSpPr txBox="1"/>
          <p:nvPr/>
        </p:nvSpPr>
        <p:spPr>
          <a:xfrm>
            <a:off x="683260" y="1488440"/>
            <a:ext cx="7312025" cy="3046095"/>
          </a:xfrm>
          <a:prstGeom prst="rect">
            <a:avLst/>
          </a:prstGeom>
        </p:spPr>
        <p:txBody>
          <a:bodyPr wrap="square">
            <a:spAutoFit/>
          </a:bodyPr>
          <a:p>
            <a:pPr marL="285750" indent="-285750" algn="just">
              <a:buFont typeface="Wingdings" panose="05000000000000000000" charset="0"/>
              <a:buChar char="Ø"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Languages</a:t>
            </a: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charset="0"/>
              <a:buChar char="Ø"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Python (for AI/ML model development and data processing)</a:t>
            </a: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charset="0"/>
              <a:buChar char="Ø"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Java (optional for system integration and backend)</a:t>
            </a: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charset="0"/>
              <a:buChar char="Ø"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&amp; AI</a:t>
            </a: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charset="0"/>
              <a:buChar char="Ø"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Algorithms: Decision Trees, Random Forest, Neural Networks</a:t>
            </a: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charset="0"/>
              <a:buChar char="Ø"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(for complex pattern recognition)</a:t>
            </a: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charset="0"/>
              <a:buChar char="Ø"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 Libraries</a:t>
            </a: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charset="0"/>
              <a:buChar char="Ø"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NumPy – numerical computations</a:t>
            </a: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charset="0"/>
              <a:buChar char="Ø"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Pandas – data cleaning and preprocessing</a:t>
            </a: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charset="0"/>
              <a:buChar char="Ø"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Frameworks &amp; Tools</a:t>
            </a: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charset="0"/>
              <a:buChar char="Ø"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TensorFlow / Keras – model building and training</a:t>
            </a: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charset="0"/>
              <a:buChar char="Ø"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 – ML algorithms and evaluatio</a:t>
            </a:r>
            <a:r>
              <a:rPr lang="en-IN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en-I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226" y="416197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IN" altLang="en-US" sz="2400" b="1" u="sng" dirty="0">
                <a:solidFill>
                  <a:srgbClr val="00206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CHALLENGES AND FUTURE WORKS</a:t>
            </a:r>
            <a:endParaRPr lang="en-IN" altLang="en-US" sz="2400" b="1" u="sng" dirty="0">
              <a:solidFill>
                <a:srgbClr val="002060"/>
              </a:solidFill>
              <a:latin typeface="Times New Roman" panose="02020603050405020304" pitchFamily="18" charset="0"/>
              <a:ea typeface="Optima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4" name="Picture 4" descr="Saveetha Institute of Medical and Technical Sciences -SIMATS | Chennai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2625" y="488023"/>
            <a:ext cx="836149" cy="836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SIMATS CGPA Calculato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226" y="435048"/>
            <a:ext cx="769568" cy="836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643206" y="1101055"/>
            <a:ext cx="7791008" cy="3692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342900" lvl="0" indent="-3429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Quality Issues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 data may contain missing values, noise, or inconsistencies, affecting accuracy.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Privacy &amp; Security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sensitive patient information requires strict compliance with regulations (HIPAA, etc.).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Uncertainty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Symptoms may overlap across multiple diseases, making diagnosis complex.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Existing Systems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in integrating AI systems with hospital databases and EHR systems.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and Complex Data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high-dimensional data like medical images, reports, and real-time sensor data.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2" y="488315"/>
            <a:ext cx="7200897" cy="977900"/>
          </a:xfrm>
        </p:spPr>
        <p:txBody>
          <a:bodyPr/>
          <a:p>
            <a:r>
              <a:rPr lang="en-IN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F5A71B3-99A7-4C14-A482-14D54FB923BE}" type="datetime6">
              <a:rPr lang="en-US" smtClean="0"/>
            </a:fld>
            <a:endParaRPr lang="en-US"/>
          </a:p>
        </p:txBody>
      </p:sp>
      <p:pic>
        <p:nvPicPr>
          <p:cNvPr id="5" name="Picture 6" descr="SIMATS CGPA Calculator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226" y="435048"/>
            <a:ext cx="769568" cy="836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Saveetha Institute of Medical and Technical Sciences -SIMATS | Chenna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2625" y="488023"/>
            <a:ext cx="836149" cy="836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Box 9"/>
          <p:cNvSpPr txBox="1"/>
          <p:nvPr/>
        </p:nvSpPr>
        <p:spPr>
          <a:xfrm>
            <a:off x="1115060" y="1466215"/>
            <a:ext cx="6914515" cy="3291840"/>
          </a:xfrm>
          <a:prstGeom prst="rect">
            <a:avLst/>
          </a:prstGeom>
        </p:spPr>
        <p:txBody>
          <a:bodyPr wrap="square">
            <a:spAutoFit/>
          </a:bodyPr>
          <a:p>
            <a:pPr marL="285750" indent="-285750" algn="just">
              <a:buFont typeface="Wingdings" panose="05000000000000000000" charset="0"/>
              <a:buChar char="Ø"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Russell, S., &amp; Norvig, P.</a:t>
            </a: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charset="0"/>
              <a:buChar char="Ø"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Intelligence: A Modern Approach, 3rd Edition, Pearson, 2010.</a:t>
            </a: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charset="0"/>
              <a:buChar char="Ø"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Nilsson, N. J.</a:t>
            </a: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charset="0"/>
              <a:buChar char="Ø"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Intelligence: A New Synthesis, Morgan Kaufmann, 1998.</a:t>
            </a: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charset="0"/>
              <a:buChar char="Ø"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Shortliffe, E. H., &amp; Cimino, J. J.</a:t>
            </a: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charset="0"/>
              <a:buChar char="Ø"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Biomedical Informatics: Computer Applications in Health Care and Biomedicine, Springer, 2014.</a:t>
            </a: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charset="0"/>
              <a:buChar char="Ø"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Topol, E.</a:t>
            </a: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charset="0"/>
              <a:buChar char="Ø"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Deep Medicine: How Artificial Intelligence Can Make Healthcare Human Again, Basic Books, 2019.</a:t>
            </a: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charset="0"/>
              <a:buChar char="Ø"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Esteva, A., et al.</a:t>
            </a: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charset="0"/>
              <a:buChar char="Ø"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“Dermatologist-level classification of skin cancer with deep neural networks,” Nature, 2017.</a:t>
            </a: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3587" y="1830872"/>
            <a:ext cx="4904256" cy="786926"/>
          </a:xfrm>
        </p:spPr>
        <p:txBody>
          <a:bodyPr>
            <a:noAutofit/>
          </a:bodyPr>
          <a:lstStyle/>
          <a:p>
            <a:r>
              <a:rPr lang="en-IN" sz="8000" dirty="0">
                <a:solidFill>
                  <a:srgbClr val="002060"/>
                </a:solidFill>
                <a:latin typeface="Lucida Handwriting" panose="03010101010101010101" charset="0"/>
                <a:cs typeface="Lucida Handwriting" panose="03010101010101010101" charset="0"/>
              </a:rPr>
              <a:t>Thank you!!!</a:t>
            </a:r>
            <a:endParaRPr lang="en-IN" sz="8000" dirty="0">
              <a:solidFill>
                <a:srgbClr val="002060"/>
              </a:solidFill>
              <a:latin typeface="Lucida Handwriting" panose="03010101010101010101" charset="0"/>
              <a:cs typeface="Lucida Handwriting" panose="03010101010101010101" charset="0"/>
            </a:endParaRPr>
          </a:p>
        </p:txBody>
      </p:sp>
      <p:pic>
        <p:nvPicPr>
          <p:cNvPr id="5" name="Picture 6" descr="SIMATS CGPA Calculator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226" y="435048"/>
            <a:ext cx="769568" cy="836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Saveetha Institute of Medical and Technical Sciences -SIMATS | Chenna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2625" y="488023"/>
            <a:ext cx="836149" cy="836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0</TotalTime>
  <Words>5138</Words>
  <Application>WPS Presentation</Application>
  <PresentationFormat>On-screen Show (16:9)</PresentationFormat>
  <Paragraphs>99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3" baseType="lpstr">
      <vt:lpstr>Arial</vt:lpstr>
      <vt:lpstr>SimSun</vt:lpstr>
      <vt:lpstr>Wingdings</vt:lpstr>
      <vt:lpstr>Arial</vt:lpstr>
      <vt:lpstr>Times New Roman</vt:lpstr>
      <vt:lpstr>Optima</vt:lpstr>
      <vt:lpstr>Wingdings</vt:lpstr>
      <vt:lpstr>Lucida Handwriting</vt:lpstr>
      <vt:lpstr>Microsoft YaHei</vt:lpstr>
      <vt:lpstr>Arial Unicode MS</vt:lpstr>
      <vt:lpstr>Garamond</vt:lpstr>
      <vt:lpstr>Calibri</vt:lpstr>
      <vt:lpstr>Organic</vt:lpstr>
      <vt:lpstr>PowerPoint 演示文稿</vt:lpstr>
      <vt:lpstr>PowerPoint 演示文稿</vt:lpstr>
      <vt:lpstr>PowerPoint 演示文稿</vt:lpstr>
      <vt:lpstr>  OBJECTIVES  </vt:lpstr>
      <vt:lpstr>PowerPoint 演示文稿</vt:lpstr>
      <vt:lpstr>PowerPoint 演示文稿</vt:lpstr>
      <vt:lpstr>PowerPoint 演示文稿</vt:lpstr>
      <vt:lpstr>PowerPoint 演示文稿</vt:lpstr>
      <vt:lpstr>REFERENCES</vt:lpstr>
      <vt:lpstr>Thank you!!!</vt:lpstr>
    </vt:vector>
  </TitlesOfParts>
  <Company>SlideMake.com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And Analyze A Triple-Mode Calling Bell Using Transistors</dc:title>
  <dc:creator>SlideMake.com</dc:creator>
  <dc:subject>Design And Analyze A Triple-Mode Calling Bell Using Transistors</dc:subject>
  <cp:lastModifiedBy>aswini k</cp:lastModifiedBy>
  <cp:revision>34</cp:revision>
  <dcterms:created xsi:type="dcterms:W3CDTF">2025-03-19T04:22:00Z</dcterms:created>
  <dcterms:modified xsi:type="dcterms:W3CDTF">2026-08-28T09:24:11Z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1FCA7ADC9CC740A992279A6C2B3CD6DA_13</vt:lpwstr>
  </property>
  <property fmtid="{D5CDD505-2E9C-101B-9397-08002B2CF9AE}" pid="3" name="KSOProductBuildVer">
    <vt:lpwstr>1033-12.1.0.28032</vt:lpwstr>
  </property>
</Properties>
</file>